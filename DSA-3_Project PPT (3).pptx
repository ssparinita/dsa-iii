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431" autoAdjust="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8/24/2026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5640" y="680454"/>
            <a:ext cx="10506974"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dirty="0"/>
              <a:t>Multi-Pattern Search Engine Using Aho–</a:t>
            </a:r>
            <a:r>
              <a:rPr lang="en-IN" sz="4000" b="1" dirty="0" err="1"/>
              <a:t>Corasick</a:t>
            </a:r>
            <a:r>
              <a:rPr lang="en-IN" sz="4000" b="1" dirty="0"/>
              <a:t> Algorithm</a:t>
            </a:r>
            <a:endParaRPr lang="en-US" sz="4000" b="1" dirty="0">
              <a:solidFill>
                <a:srgbClr val="C00000"/>
              </a:solidFill>
              <a:latin typeface="+mn-lt"/>
            </a:endParaRPr>
          </a:p>
        </p:txBody>
      </p:sp>
      <p:sp>
        <p:nvSpPr>
          <p:cNvPr id="3" name="Subtitle 2"/>
          <p:cNvSpPr>
            <a:spLocks noGrp="1"/>
          </p:cNvSpPr>
          <p:nvPr>
            <p:ph type="subTitle" idx="1"/>
          </p:nvPr>
        </p:nvSpPr>
        <p:spPr>
          <a:xfrm>
            <a:off x="3737230" y="2997156"/>
            <a:ext cx="4551284" cy="1988788"/>
          </a:xfrm>
        </p:spPr>
        <p:txBody>
          <a:bodyPr/>
          <a:lstStyle/>
          <a:p>
            <a:r>
              <a:rPr lang="en-US" dirty="0">
                <a:solidFill>
                  <a:srgbClr val="0070C0"/>
                </a:solidFill>
              </a:rPr>
              <a:t>Team Members</a:t>
            </a:r>
          </a:p>
          <a:p>
            <a:r>
              <a:rPr lang="en-US" dirty="0">
                <a:solidFill>
                  <a:srgbClr val="0070C0"/>
                </a:solidFill>
              </a:rPr>
              <a:t>Dharmika P  :  2520030012</a:t>
            </a:r>
          </a:p>
          <a:p>
            <a:r>
              <a:rPr lang="en-US" dirty="0">
                <a:solidFill>
                  <a:srgbClr val="0070C0"/>
                </a:solidFill>
              </a:rPr>
              <a:t>Parinita    T    :  2520030562</a:t>
            </a:r>
          </a:p>
          <a:p>
            <a:r>
              <a:rPr lang="en-US" dirty="0">
                <a:solidFill>
                  <a:srgbClr val="0070C0"/>
                </a:solidFill>
              </a:rPr>
              <a:t>Darshini </a:t>
            </a:r>
            <a:r>
              <a:rPr lang="en-US" dirty="0" err="1">
                <a:solidFill>
                  <a:srgbClr val="0070C0"/>
                </a:solidFill>
              </a:rPr>
              <a:t>Gangisetti</a:t>
            </a:r>
            <a:r>
              <a:rPr lang="en-US" dirty="0">
                <a:solidFill>
                  <a:srgbClr val="0070C0"/>
                </a:solidFill>
              </a:rPr>
              <a:t> : 2520030167</a:t>
            </a:r>
          </a:p>
          <a:p>
            <a:pPr marL="171450" algn="ctr">
              <a:lnSpc>
                <a:spcPct val="107000"/>
              </a:lnSpc>
              <a:spcAft>
                <a:spcPts val="800"/>
              </a:spcAft>
            </a:pPr>
            <a:endParaRPr lang="en-US" sz="1800" kern="0" dirty="0">
              <a:solidFill>
                <a:srgbClr val="000000"/>
              </a:solidFill>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Mrs. J. Yamini Devi</a:t>
            </a:r>
          </a:p>
          <a:p>
            <a:pPr algn="ctr">
              <a:lnSpc>
                <a:spcPct val="107000"/>
              </a:lnSpc>
              <a:spcAft>
                <a:spcPts val="800"/>
              </a:spcAft>
            </a:pPr>
            <a:r>
              <a:rPr lang="en-US" sz="1800" b="1"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Assistant Professor, CSE</a:t>
            </a: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81F41503-CD39-B843-1F7F-B0779535DC41}"/>
              </a:ext>
            </a:extLst>
          </p:cNvPr>
          <p:cNvSpPr txBox="1"/>
          <p:nvPr/>
        </p:nvSpPr>
        <p:spPr>
          <a:xfrm>
            <a:off x="733245" y="1413064"/>
            <a:ext cx="10386203" cy="4649350"/>
          </a:xfrm>
          <a:prstGeom prst="rect">
            <a:avLst/>
          </a:prstGeom>
          <a:noFill/>
        </p:spPr>
        <p:txBody>
          <a:bodyPr wrap="square">
            <a:spAutoFit/>
          </a:bodyPr>
          <a:lstStyle/>
          <a:p>
            <a:pPr algn="just">
              <a:lnSpc>
                <a:spcPct val="150000"/>
              </a:lnSpc>
            </a:pPr>
            <a:r>
              <a:rPr lang="en-IN" sz="2500" dirty="0"/>
              <a:t>The Multi-Pattern Search Engine is designed to efficiently search multiple patterns or keywords within a given text or document. It uses the </a:t>
            </a:r>
            <a:r>
              <a:rPr lang="en-IN" sz="2500" b="1" dirty="0"/>
              <a:t>Aho–</a:t>
            </a:r>
            <a:r>
              <a:rPr lang="en-IN" sz="2500" b="1" dirty="0" err="1"/>
              <a:t>Corasick</a:t>
            </a:r>
            <a:r>
              <a:rPr lang="en-IN" sz="2500" b="1" dirty="0"/>
              <a:t> algorithm</a:t>
            </a:r>
            <a:r>
              <a:rPr lang="en-IN" sz="2500" dirty="0"/>
              <a:t>, which builds a Trie structure and uses failure links to search all patterns simultaneously in a single scan of the text. This approach improves search efficiency compared to searching for each pattern separately. The system can identify matched patterns and their positions in the input text. It can be useful in applications such as text searching, spam filtering, plagiarism detection, DNA sequence analysis, and keyword filtering.</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220306"/>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B0D6AF94-EB13-2A9B-4F8F-739AED04EA16}"/>
              </a:ext>
            </a:extLst>
          </p:cNvPr>
          <p:cNvSpPr txBox="1"/>
          <p:nvPr/>
        </p:nvSpPr>
        <p:spPr>
          <a:xfrm>
            <a:off x="1097710" y="1403569"/>
            <a:ext cx="9357505" cy="4649350"/>
          </a:xfrm>
          <a:prstGeom prst="rect">
            <a:avLst/>
          </a:prstGeom>
          <a:noFill/>
        </p:spPr>
        <p:txBody>
          <a:bodyPr wrap="square">
            <a:spAutoFit/>
          </a:bodyPr>
          <a:lstStyle/>
          <a:p>
            <a:pPr algn="just">
              <a:lnSpc>
                <a:spcPct val="150000"/>
              </a:lnSpc>
              <a:buNone/>
            </a:pPr>
            <a:r>
              <a:rPr lang="en-IN" sz="2500" dirty="0"/>
              <a:t>Searching for multiple keywords in a large amount of text is an important problem in computer science. Traditional searching methods search for each pattern individually, which can take more time when many patterns are involved.</a:t>
            </a:r>
          </a:p>
          <a:p>
            <a:pPr algn="just">
              <a:lnSpc>
                <a:spcPct val="150000"/>
              </a:lnSpc>
              <a:buNone/>
            </a:pPr>
            <a:endParaRPr lang="en-IN" sz="2500" dirty="0"/>
          </a:p>
          <a:p>
            <a:pPr algn="just">
              <a:lnSpc>
                <a:spcPct val="150000"/>
              </a:lnSpc>
              <a:buNone/>
            </a:pPr>
            <a:r>
              <a:rPr lang="en-IN" sz="2500" dirty="0"/>
              <a:t>The </a:t>
            </a:r>
            <a:r>
              <a:rPr lang="en-IN" sz="2500" b="1" dirty="0"/>
              <a:t>Aho–</a:t>
            </a:r>
            <a:r>
              <a:rPr lang="en-IN" sz="2500" b="1" dirty="0" err="1"/>
              <a:t>Corasick</a:t>
            </a:r>
            <a:r>
              <a:rPr lang="en-IN" sz="2500" b="1" dirty="0"/>
              <a:t> algorithm</a:t>
            </a:r>
            <a:r>
              <a:rPr lang="en-IN" sz="2500" dirty="0"/>
              <a:t> solves this problem by combining all patterns into a </a:t>
            </a:r>
            <a:r>
              <a:rPr lang="en-IN" sz="2500" b="1" dirty="0"/>
              <a:t>Trie</a:t>
            </a:r>
            <a:r>
              <a:rPr lang="en-IN" sz="2500" dirty="0"/>
              <a:t> and creating </a:t>
            </a:r>
            <a:r>
              <a:rPr lang="en-IN" sz="2500" b="1" dirty="0"/>
              <a:t>failure links</a:t>
            </a:r>
            <a:r>
              <a:rPr lang="en-IN" sz="2500" dirty="0"/>
              <a:t>. The text is scanned only once, and all matching patterns are found efficiently.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E308DA5D-5B32-DAFF-0DDF-A5AA68AA3F00}"/>
              </a:ext>
            </a:extLst>
          </p:cNvPr>
          <p:cNvSpPr txBox="1"/>
          <p:nvPr/>
        </p:nvSpPr>
        <p:spPr>
          <a:xfrm>
            <a:off x="1166722" y="1386318"/>
            <a:ext cx="9184976" cy="4649350"/>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500" b="1" dirty="0"/>
              <a:t>Naive String Matching:</a:t>
            </a:r>
            <a:r>
              <a:rPr lang="en-IN" sz="2500" dirty="0"/>
              <a:t> Searches each pattern separately and can be slow for multiple patterns. </a:t>
            </a:r>
          </a:p>
          <a:p>
            <a:pPr marL="342900" lvl="0" indent="-342900" algn="just">
              <a:lnSpc>
                <a:spcPct val="150000"/>
              </a:lnSpc>
              <a:buFont typeface="Arial" panose="020B0604020202020204" pitchFamily="34" charset="0"/>
              <a:buChar char="•"/>
            </a:pPr>
            <a:r>
              <a:rPr lang="en-IN" sz="2500" b="1" dirty="0"/>
              <a:t>KMP Algorithm:</a:t>
            </a:r>
            <a:r>
              <a:rPr lang="en-IN" sz="2500" dirty="0"/>
              <a:t> Efficiently searches for a single pattern but is not primarily designed for multiple patterns together. </a:t>
            </a:r>
          </a:p>
          <a:p>
            <a:pPr marL="342900" lvl="0" indent="-342900" algn="just">
              <a:lnSpc>
                <a:spcPct val="150000"/>
              </a:lnSpc>
              <a:buFont typeface="Arial" panose="020B0604020202020204" pitchFamily="34" charset="0"/>
              <a:buChar char="•"/>
            </a:pPr>
            <a:r>
              <a:rPr lang="en-IN" sz="2500" b="1" dirty="0"/>
              <a:t>Rabin–Karp Algorithm:</a:t>
            </a:r>
            <a:r>
              <a:rPr lang="en-IN" sz="2500" dirty="0"/>
              <a:t> Uses hashing for pattern matching but may have hash collisions. </a:t>
            </a:r>
          </a:p>
          <a:p>
            <a:pPr marL="342900" lvl="0" indent="-342900" algn="just">
              <a:lnSpc>
                <a:spcPct val="150000"/>
              </a:lnSpc>
              <a:buFont typeface="Arial" panose="020B0604020202020204" pitchFamily="34" charset="0"/>
              <a:buChar char="•"/>
            </a:pPr>
            <a:r>
              <a:rPr lang="en-IN" sz="2500" b="1" dirty="0"/>
              <a:t>Aho–</a:t>
            </a:r>
            <a:r>
              <a:rPr lang="en-IN" sz="2500" b="1" dirty="0" err="1"/>
              <a:t>Corasick</a:t>
            </a:r>
            <a:r>
              <a:rPr lang="en-IN" sz="2500" b="1" dirty="0"/>
              <a:t> Algorithm:</a:t>
            </a:r>
            <a:r>
              <a:rPr lang="en-IN" sz="2500" dirty="0"/>
              <a:t> Efficiently searches multiple patterns simultaneously using a Trie and failure links.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95C980B8-D5E4-EE7D-6546-27E39E2B63E8}"/>
              </a:ext>
            </a:extLst>
          </p:cNvPr>
          <p:cNvSpPr txBox="1"/>
          <p:nvPr/>
        </p:nvSpPr>
        <p:spPr>
          <a:xfrm>
            <a:off x="556447" y="877469"/>
            <a:ext cx="10843404" cy="6380593"/>
          </a:xfrm>
          <a:prstGeom prst="rect">
            <a:avLst/>
          </a:prstGeom>
          <a:noFill/>
        </p:spPr>
        <p:txBody>
          <a:bodyPr wrap="square">
            <a:spAutoFit/>
          </a:bodyPr>
          <a:lstStyle/>
          <a:p>
            <a:pPr algn="just">
              <a:lnSpc>
                <a:spcPct val="150000"/>
              </a:lnSpc>
              <a:buNone/>
            </a:pPr>
            <a:r>
              <a:rPr lang="en-IN" sz="2500" b="1" dirty="0"/>
              <a:t>Problem Statement</a:t>
            </a:r>
          </a:p>
          <a:p>
            <a:pPr algn="just">
              <a:lnSpc>
                <a:spcPct val="150000"/>
              </a:lnSpc>
              <a:buNone/>
            </a:pPr>
            <a:r>
              <a:rPr lang="en-IN" sz="2500" dirty="0"/>
              <a:t>Traditional search methods become inefficient when multiple patterns need to be searched in a large text. An efficient system is required to detect all patterns in a single scan.</a:t>
            </a:r>
          </a:p>
          <a:p>
            <a:pPr algn="just">
              <a:lnSpc>
                <a:spcPct val="150000"/>
              </a:lnSpc>
            </a:pPr>
            <a:r>
              <a:rPr lang="en-IN" sz="2500" b="1" dirty="0"/>
              <a:t>Objectives</a:t>
            </a:r>
          </a:p>
          <a:p>
            <a:pPr marL="457200" lvl="0" indent="-457200" algn="just">
              <a:lnSpc>
                <a:spcPct val="150000"/>
              </a:lnSpc>
              <a:buFont typeface="Arial" panose="020B0604020202020204" pitchFamily="34" charset="0"/>
              <a:buChar char="•"/>
            </a:pPr>
            <a:r>
              <a:rPr lang="en-IN" sz="2500" dirty="0"/>
              <a:t>To accept multiple search patterns.</a:t>
            </a:r>
          </a:p>
          <a:p>
            <a:pPr marL="457200" lvl="0" indent="-457200" algn="just">
              <a:lnSpc>
                <a:spcPct val="150000"/>
              </a:lnSpc>
              <a:buFont typeface="Arial" panose="020B0604020202020204" pitchFamily="34" charset="0"/>
              <a:buChar char="•"/>
            </a:pPr>
            <a:r>
              <a:rPr lang="en-IN" sz="2500" dirty="0"/>
              <a:t>To construct a Trie from the patterns.</a:t>
            </a:r>
          </a:p>
          <a:p>
            <a:pPr marL="457200" lvl="0" indent="-457200" algn="just">
              <a:lnSpc>
                <a:spcPct val="150000"/>
              </a:lnSpc>
              <a:buFont typeface="Arial" panose="020B0604020202020204" pitchFamily="34" charset="0"/>
              <a:buChar char="•"/>
            </a:pPr>
            <a:r>
              <a:rPr lang="en-IN" sz="2500" dirty="0"/>
              <a:t>To build failure links.</a:t>
            </a:r>
          </a:p>
          <a:p>
            <a:pPr marL="457200" lvl="0" indent="-457200" algn="just">
              <a:lnSpc>
                <a:spcPct val="150000"/>
              </a:lnSpc>
              <a:buFont typeface="Arial" panose="020B0604020202020204" pitchFamily="34" charset="0"/>
              <a:buChar char="•"/>
            </a:pPr>
            <a:r>
              <a:rPr lang="en-IN" sz="2500" dirty="0"/>
              <a:t>To scan the input text efficiently.</a:t>
            </a:r>
          </a:p>
          <a:p>
            <a:pPr marL="457200" lvl="0" indent="-457200" algn="just">
              <a:lnSpc>
                <a:spcPct val="150000"/>
              </a:lnSpc>
              <a:buFont typeface="Arial" panose="020B0604020202020204" pitchFamily="34" charset="0"/>
              <a:buChar char="•"/>
            </a:pPr>
            <a:r>
              <a:rPr lang="en-IN" sz="2500" dirty="0"/>
              <a:t>To identify all matched patterns and display their positions.</a:t>
            </a:r>
          </a:p>
          <a:p>
            <a:pPr algn="just">
              <a:lnSpc>
                <a:spcPct val="150000"/>
              </a:lnSpc>
              <a:buNone/>
            </a:pPr>
            <a:endParaRPr lang="en-IN" sz="2500"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7" name="Picture 6" descr="The image illustrates a flowchart for implementing a pattern matching algorithm using a trie data structure.&#10;&#10;AI-generated content may be incorrect.">
            <a:extLst>
              <a:ext uri="{FF2B5EF4-FFF2-40B4-BE49-F238E27FC236}">
                <a16:creationId xmlns:a16="http://schemas.microsoft.com/office/drawing/2014/main" id="{83160118-4ABB-D6E4-ADE9-6ED197F6299D}"/>
              </a:ext>
            </a:extLst>
          </p:cNvPr>
          <p:cNvPicPr>
            <a:picLocks noChangeAspect="1"/>
          </p:cNvPicPr>
          <p:nvPr/>
        </p:nvPicPr>
        <p:blipFill>
          <a:blip r:embed="rId2"/>
          <a:stretch>
            <a:fillRect/>
          </a:stretch>
        </p:blipFill>
        <p:spPr>
          <a:xfrm>
            <a:off x="3084945" y="942109"/>
            <a:ext cx="5911273" cy="56942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5" name="TextBox 4">
            <a:extLst>
              <a:ext uri="{FF2B5EF4-FFF2-40B4-BE49-F238E27FC236}">
                <a16:creationId xmlns:a16="http://schemas.microsoft.com/office/drawing/2014/main" id="{C45404E9-CC0D-7AD1-3BF4-2792BE821243}"/>
              </a:ext>
            </a:extLst>
          </p:cNvPr>
          <p:cNvSpPr txBox="1"/>
          <p:nvPr/>
        </p:nvSpPr>
        <p:spPr>
          <a:xfrm>
            <a:off x="1006764" y="1085426"/>
            <a:ext cx="9781308" cy="1763944"/>
          </a:xfrm>
          <a:prstGeom prst="rect">
            <a:avLst/>
          </a:prstGeom>
          <a:noFill/>
        </p:spPr>
        <p:txBody>
          <a:bodyPr wrap="square">
            <a:spAutoFit/>
          </a:bodyPr>
          <a:lstStyle/>
          <a:p>
            <a:pPr algn="just">
              <a:lnSpc>
                <a:spcPct val="150000"/>
              </a:lnSpc>
            </a:pPr>
            <a:r>
              <a:rPr lang="en-IN" sz="2500" dirty="0"/>
              <a:t>The system successfully searches for multiple patterns in the given text using the Aho–</a:t>
            </a:r>
            <a:r>
              <a:rPr lang="en-IN" sz="2500" dirty="0" err="1"/>
              <a:t>Corasick</a:t>
            </a:r>
            <a:r>
              <a:rPr lang="en-IN" sz="2500" dirty="0"/>
              <a:t> algorithm. All matching keywords are detected along with their positions.</a:t>
            </a:r>
          </a:p>
        </p:txBody>
      </p:sp>
      <p:sp>
        <p:nvSpPr>
          <p:cNvPr id="13" name="TextBox 12">
            <a:extLst>
              <a:ext uri="{FF2B5EF4-FFF2-40B4-BE49-F238E27FC236}">
                <a16:creationId xmlns:a16="http://schemas.microsoft.com/office/drawing/2014/main" id="{00BDDA8A-0A2A-1A3C-0B7B-943A62CC9698}"/>
              </a:ext>
            </a:extLst>
          </p:cNvPr>
          <p:cNvSpPr txBox="1"/>
          <p:nvPr/>
        </p:nvSpPr>
        <p:spPr>
          <a:xfrm>
            <a:off x="1006764" y="2720723"/>
            <a:ext cx="9624290" cy="4062779"/>
          </a:xfrm>
          <a:prstGeom prst="rect">
            <a:avLst/>
          </a:prstGeom>
          <a:noFill/>
        </p:spPr>
        <p:txBody>
          <a:bodyPr wrap="square">
            <a:spAutoFit/>
          </a:bodyPr>
          <a:lstStyle/>
          <a:p>
            <a:pPr algn="just">
              <a:lnSpc>
                <a:spcPct val="150000"/>
              </a:lnSpc>
              <a:buNone/>
            </a:pPr>
            <a:r>
              <a:rPr lang="en-IN" sz="2500" b="1" dirty="0">
                <a:latin typeface="Times New Roman" panose="02020603050405020304" pitchFamily="18" charset="0"/>
                <a:cs typeface="Times New Roman" panose="02020603050405020304" pitchFamily="18" charset="0"/>
              </a:rPr>
              <a:t>Example</a:t>
            </a:r>
          </a:p>
          <a:p>
            <a:pPr algn="just">
              <a:lnSpc>
                <a:spcPct val="150000"/>
              </a:lnSpc>
              <a:buNone/>
            </a:pPr>
            <a:r>
              <a:rPr lang="en-IN" sz="2500" dirty="0">
                <a:latin typeface="Times New Roman" panose="02020603050405020304" pitchFamily="18" charset="0"/>
                <a:cs typeface="Times New Roman" panose="02020603050405020304" pitchFamily="18" charset="0"/>
              </a:rPr>
              <a:t>Input Text: </a:t>
            </a:r>
            <a:r>
              <a:rPr lang="en-IN" sz="2500" dirty="0" err="1">
                <a:latin typeface="Times New Roman" panose="02020603050405020304" pitchFamily="18" charset="0"/>
                <a:cs typeface="Times New Roman" panose="02020603050405020304" pitchFamily="18" charset="0"/>
              </a:rPr>
              <a:t>ahishers</a:t>
            </a:r>
            <a:endParaRPr lang="en-IN" sz="2500" dirty="0">
              <a:latin typeface="Times New Roman" panose="02020603050405020304" pitchFamily="18" charset="0"/>
              <a:cs typeface="Times New Roman" panose="02020603050405020304" pitchFamily="18" charset="0"/>
            </a:endParaRPr>
          </a:p>
          <a:p>
            <a:pPr algn="just">
              <a:lnSpc>
                <a:spcPct val="150000"/>
              </a:lnSpc>
              <a:buNone/>
            </a:pPr>
            <a:r>
              <a:rPr lang="en-IN" sz="2500" dirty="0">
                <a:latin typeface="Times New Roman" panose="02020603050405020304" pitchFamily="18" charset="0"/>
                <a:cs typeface="Times New Roman" panose="02020603050405020304" pitchFamily="18" charset="0"/>
              </a:rPr>
              <a:t>Patterns: he, she, his, hers</a:t>
            </a:r>
          </a:p>
          <a:p>
            <a:pPr algn="just">
              <a:lnSpc>
                <a:spcPct val="150000"/>
              </a:lnSpc>
            </a:pPr>
            <a:r>
              <a:rPr lang="en-IN" sz="2500" dirty="0">
                <a:latin typeface="Times New Roman" panose="02020603050405020304" pitchFamily="18" charset="0"/>
                <a:cs typeface="Times New Roman" panose="02020603050405020304" pitchFamily="18" charset="0"/>
              </a:rPr>
              <a:t>Output:    Pattern "his" found</a:t>
            </a:r>
          </a:p>
          <a:p>
            <a:pPr lvl="3" algn="just">
              <a:lnSpc>
                <a:spcPct val="150000"/>
              </a:lnSpc>
            </a:pPr>
            <a:r>
              <a:rPr lang="en-IN" sz="2500" dirty="0">
                <a:latin typeface="Times New Roman" panose="02020603050405020304" pitchFamily="18" charset="0"/>
                <a:cs typeface="Times New Roman" panose="02020603050405020304" pitchFamily="18" charset="0"/>
              </a:rPr>
              <a:t>Pattern "she" found</a:t>
            </a:r>
          </a:p>
          <a:p>
            <a:pPr lvl="3" algn="just">
              <a:lnSpc>
                <a:spcPct val="150000"/>
              </a:lnSpc>
            </a:pPr>
            <a:r>
              <a:rPr lang="en-IN" sz="2500" dirty="0">
                <a:latin typeface="Times New Roman" panose="02020603050405020304" pitchFamily="18" charset="0"/>
                <a:cs typeface="Times New Roman" panose="02020603050405020304" pitchFamily="18" charset="0"/>
              </a:rPr>
              <a:t>Pattern "he" found</a:t>
            </a:r>
          </a:p>
          <a:p>
            <a:pPr lvl="3" algn="just">
              <a:lnSpc>
                <a:spcPct val="150000"/>
              </a:lnSpc>
            </a:pPr>
            <a:r>
              <a:rPr lang="en-IN" sz="2500" dirty="0">
                <a:latin typeface="Times New Roman" panose="02020603050405020304" pitchFamily="18" charset="0"/>
                <a:cs typeface="Times New Roman" panose="02020603050405020304" pitchFamily="18" charset="0"/>
              </a:rPr>
              <a:t>Pattern "hers" found</a:t>
            </a: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7" name="TextBox 6">
            <a:extLst>
              <a:ext uri="{FF2B5EF4-FFF2-40B4-BE49-F238E27FC236}">
                <a16:creationId xmlns:a16="http://schemas.microsoft.com/office/drawing/2014/main" id="{57130C34-B504-893E-E8B0-47FEF94F64DA}"/>
              </a:ext>
            </a:extLst>
          </p:cNvPr>
          <p:cNvSpPr txBox="1"/>
          <p:nvPr/>
        </p:nvSpPr>
        <p:spPr>
          <a:xfrm>
            <a:off x="786166" y="1974691"/>
            <a:ext cx="4958851" cy="2908617"/>
          </a:xfrm>
          <a:prstGeom prst="rect">
            <a:avLst/>
          </a:prstGeom>
          <a:noFill/>
        </p:spPr>
        <p:txBody>
          <a:bodyPr wrap="square">
            <a:spAutoFit/>
          </a:bodyPr>
          <a:lstStyle/>
          <a:p>
            <a:pPr algn="just">
              <a:lnSpc>
                <a:spcPct val="150000"/>
              </a:lnSpc>
              <a:buNone/>
            </a:pPr>
            <a:r>
              <a:rPr lang="en-IN" sz="2500" b="1" dirty="0">
                <a:latin typeface="Times New Roman" panose="02020603050405020304" pitchFamily="18" charset="0"/>
                <a:cs typeface="Times New Roman" panose="02020603050405020304" pitchFamily="18" charset="0"/>
              </a:rPr>
              <a:t>Hardware Requirements</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Computer/Laptop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Minimum 4 GB RAM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Intel i3 processor or equivalent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Keyboard and Monitor</a:t>
            </a:r>
          </a:p>
        </p:txBody>
      </p:sp>
      <p:sp>
        <p:nvSpPr>
          <p:cNvPr id="9" name="TextBox 8">
            <a:extLst>
              <a:ext uri="{FF2B5EF4-FFF2-40B4-BE49-F238E27FC236}">
                <a16:creationId xmlns:a16="http://schemas.microsoft.com/office/drawing/2014/main" id="{5360200B-7628-BD9E-63AA-FD7D5CB4D14D}"/>
              </a:ext>
            </a:extLst>
          </p:cNvPr>
          <p:cNvSpPr txBox="1"/>
          <p:nvPr/>
        </p:nvSpPr>
        <p:spPr>
          <a:xfrm>
            <a:off x="6243782" y="1974690"/>
            <a:ext cx="5394036" cy="2908617"/>
          </a:xfrm>
          <a:prstGeom prst="rect">
            <a:avLst/>
          </a:prstGeom>
          <a:noFill/>
        </p:spPr>
        <p:txBody>
          <a:bodyPr wrap="square">
            <a:spAutoFit/>
          </a:bodyPr>
          <a:lstStyle/>
          <a:p>
            <a:pPr algn="just">
              <a:lnSpc>
                <a:spcPct val="150000"/>
              </a:lnSpc>
              <a:buNone/>
            </a:pPr>
            <a:r>
              <a:rPr lang="en-IN" sz="2500" b="1" dirty="0">
                <a:latin typeface="Times New Roman" panose="02020603050405020304" pitchFamily="18" charset="0"/>
                <a:cs typeface="Times New Roman" panose="02020603050405020304" pitchFamily="18" charset="0"/>
              </a:rPr>
              <a:t>Software Requirements</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Operating System: Windows/Linux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Programming Language: Python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IDE: VS Code or PyCharm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Python libraries for implementation</a:t>
            </a: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0" y="154134"/>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5" name="TextBox 4">
            <a:extLst>
              <a:ext uri="{FF2B5EF4-FFF2-40B4-BE49-F238E27FC236}">
                <a16:creationId xmlns:a16="http://schemas.microsoft.com/office/drawing/2014/main" id="{E980CE55-303B-CE8C-D8CF-F94F7D031BE1}"/>
              </a:ext>
            </a:extLst>
          </p:cNvPr>
          <p:cNvSpPr txBox="1"/>
          <p:nvPr/>
        </p:nvSpPr>
        <p:spPr>
          <a:xfrm>
            <a:off x="1681017" y="1796764"/>
            <a:ext cx="8829963" cy="3485698"/>
          </a:xfrm>
          <a:prstGeom prst="rect">
            <a:avLst/>
          </a:prstGeom>
          <a:noFill/>
        </p:spPr>
        <p:txBody>
          <a:bodyPr wrap="square">
            <a:spAutoFit/>
          </a:bodyPr>
          <a:lstStyle/>
          <a:p>
            <a:pPr algn="just">
              <a:lnSpc>
                <a:spcPct val="150000"/>
              </a:lnSpc>
            </a:pPr>
            <a:r>
              <a:rPr lang="en-IN" sz="2500" dirty="0">
                <a:latin typeface="Times New Roman" panose="02020603050405020304" pitchFamily="18" charset="0"/>
                <a:cs typeface="Times New Roman" panose="02020603050405020304" pitchFamily="18" charset="0"/>
              </a:rPr>
              <a:t>The Multi-Pattern Search Engine using the Aho–</a:t>
            </a:r>
            <a:r>
              <a:rPr lang="en-IN" sz="2500" dirty="0" err="1">
                <a:latin typeface="Times New Roman" panose="02020603050405020304" pitchFamily="18" charset="0"/>
                <a:cs typeface="Times New Roman" panose="02020603050405020304" pitchFamily="18" charset="0"/>
              </a:rPr>
              <a:t>Corasick</a:t>
            </a:r>
            <a:r>
              <a:rPr lang="en-IN" sz="2500" dirty="0">
                <a:latin typeface="Times New Roman" panose="02020603050405020304" pitchFamily="18" charset="0"/>
                <a:cs typeface="Times New Roman" panose="02020603050405020304" pitchFamily="18" charset="0"/>
              </a:rPr>
              <a:t> algorithm provides an efficient method for searching multiple patterns simultaneously. By using a Trie and failure links, the algorithm scans the text efficiently and detects all possible matches. It is suitable for applications involving large text data and multiple keyword searches.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5" name="TextBox 4">
            <a:extLst>
              <a:ext uri="{FF2B5EF4-FFF2-40B4-BE49-F238E27FC236}">
                <a16:creationId xmlns:a16="http://schemas.microsoft.com/office/drawing/2014/main" id="{43611D33-C19D-2520-A31A-910DC82A586F}"/>
              </a:ext>
            </a:extLst>
          </p:cNvPr>
          <p:cNvSpPr txBox="1"/>
          <p:nvPr/>
        </p:nvSpPr>
        <p:spPr>
          <a:xfrm>
            <a:off x="2290618" y="1658219"/>
            <a:ext cx="7850909" cy="4062779"/>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Search patterns in multiple documents.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Add a graphical user interface.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Support case-insensitive searching.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Add wildcard and fuzzy pattern matching.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Use the system for plagiarism detection and spam filtering. </a:t>
            </a:r>
          </a:p>
          <a:p>
            <a:pPr marL="342900" lvl="0" indent="-342900" algn="just">
              <a:lnSpc>
                <a:spcPct val="150000"/>
              </a:lnSpc>
              <a:buFont typeface="Arial" panose="020B0604020202020204" pitchFamily="34" charset="0"/>
              <a:buChar char="•"/>
            </a:pPr>
            <a:r>
              <a:rPr lang="en-IN" sz="2500" dirty="0">
                <a:latin typeface="Times New Roman" panose="02020603050405020304" pitchFamily="18" charset="0"/>
                <a:cs typeface="Times New Roman" panose="02020603050405020304" pitchFamily="18" charset="0"/>
              </a:rPr>
              <a:t>Apply it to DNA and biological sequence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605</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Multi-Pattern Search Engine Using Aho–Corasick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Dharmika p</cp:lastModifiedBy>
  <cp:revision>21</cp:revision>
  <dcterms:created xsi:type="dcterms:W3CDTF">2024-08-29T05:25:00Z</dcterms:created>
  <dcterms:modified xsi:type="dcterms:W3CDTF">2026-08-24T13:06:42Z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